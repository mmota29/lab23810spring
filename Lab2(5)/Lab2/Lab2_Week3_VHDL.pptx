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1"/>
  </p:notesMasterIdLst>
  <p:sldIdLst>
    <p:sldId id="256" r:id="rId4"/>
    <p:sldId id="272" r:id="rId5"/>
    <p:sldId id="275" r:id="rId6"/>
    <p:sldId id="276" r:id="rId7"/>
    <p:sldId id="277" r:id="rId8"/>
    <p:sldId id="278" r:id="rId9"/>
    <p:sldId id="279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4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E48"/>
    <a:srgbClr val="C8102E"/>
    <a:srgbClr val="C81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42F3F-2430-E849-95DC-CAE79467C869}" v="1" dt="2024-01-25T15:38:18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3"/>
    <p:restoredTop sz="63239"/>
  </p:normalViewPr>
  <p:slideViewPr>
    <p:cSldViewPr snapToGrid="0" snapToObjects="1" showGuides="1">
      <p:cViewPr varScale="1">
        <p:scale>
          <a:sx n="92" d="100"/>
          <a:sy n="92" d="100"/>
        </p:scale>
        <p:origin x="2214" y="84"/>
      </p:cViewPr>
      <p:guideLst>
        <p:guide orient="horz" pos="594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A3C47-F199-FB43-B8A2-460FAE7D1F1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27364-4755-D44C-8DD3-C2463F65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Learning Objectives: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Students should know that VHDL is a specific HDL for _describing_ hardware.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Students should be able to described three different ways to model hardware in VHDL – structural, dataflow, and behavioral.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Students should be able to develop a VHDL testbench.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027364-4755-D44C-8DD3-C2463F65C1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28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27364-4755-D44C-8DD3-C2463F65C1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0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27364-4755-D44C-8DD3-C2463F65C1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2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914652"/>
            <a:ext cx="9144000" cy="496533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29146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5377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2031"/>
            <a:ext cx="8229600" cy="3942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767262"/>
            <a:ext cx="9144000" cy="3762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 userDrawn="1"/>
        </p:nvSpPr>
        <p:spPr>
          <a:xfrm>
            <a:off x="0" y="4594624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Date Placeholder 3"/>
          <p:cNvSpPr txBox="1">
            <a:spLocks/>
          </p:cNvSpPr>
          <p:nvPr userDrawn="1"/>
        </p:nvSpPr>
        <p:spPr>
          <a:xfrm>
            <a:off x="609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1BE48"/>
                </a:solidFill>
              </a:rPr>
              <a:t>Duwe © ISU</a:t>
            </a: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3276600" y="4881564"/>
            <a:ext cx="2895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F1BE48"/>
                </a:solidFill>
              </a:rPr>
              <a:t>CprE</a:t>
            </a:r>
            <a:r>
              <a:rPr lang="en-US" sz="900" dirty="0">
                <a:solidFill>
                  <a:srgbClr val="F1BE48"/>
                </a:solidFill>
              </a:rPr>
              <a:t> 381: Lab Week 3 VHDL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6705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9D2238-A1CD-1744-8802-C58D73344F5F}" type="slidenum">
              <a:rPr lang="en-US" sz="900" smtClean="0">
                <a:solidFill>
                  <a:srgbClr val="F1BE48"/>
                </a:solidFill>
              </a:rPr>
              <a:pPr/>
              <a:t>‹#›</a:t>
            </a:fld>
            <a:endParaRPr lang="en-US" sz="900" dirty="0">
              <a:solidFill>
                <a:srgbClr val="F1BE4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/>
          <p:cNvSpPr/>
          <p:nvPr userDrawn="1"/>
        </p:nvSpPr>
        <p:spPr>
          <a:xfrm flipH="1" flipV="1">
            <a:off x="0" y="0"/>
            <a:ext cx="9144000" cy="5143500"/>
          </a:xfrm>
          <a:prstGeom prst="rtTriangle">
            <a:avLst/>
          </a:prstGeom>
          <a:solidFill>
            <a:srgbClr val="F1BE48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ight Triangle 6"/>
          <p:cNvSpPr/>
          <p:nvPr userDrawn="1"/>
        </p:nvSpPr>
        <p:spPr>
          <a:xfrm>
            <a:off x="0" y="0"/>
            <a:ext cx="9144000" cy="5143500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6" y="3305176"/>
            <a:ext cx="5031361" cy="1462088"/>
          </a:xfrm>
        </p:spPr>
        <p:txBody>
          <a:bodyPr anchor="t"/>
          <a:lstStyle>
            <a:lvl1pPr algn="r">
              <a:defRPr sz="3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53676" y="2180035"/>
            <a:ext cx="2741039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4767262"/>
            <a:ext cx="9144000" cy="3762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 userDrawn="1"/>
        </p:nvSpPr>
        <p:spPr>
          <a:xfrm>
            <a:off x="0" y="4594624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609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1BE48"/>
                </a:solidFill>
              </a:rPr>
              <a:t>Duwe, Spring 2020 © ISU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276600" y="4881564"/>
            <a:ext cx="2895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F1BE48"/>
                </a:solidFill>
              </a:rPr>
              <a:t>CprE</a:t>
            </a:r>
            <a:r>
              <a:rPr lang="en-US" sz="900" dirty="0">
                <a:solidFill>
                  <a:srgbClr val="F1BE48"/>
                </a:solidFill>
              </a:rPr>
              <a:t> 381: Design Cycle &amp; Structured Pairing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6705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Lec01.</a:t>
            </a:r>
            <a:fld id="{4B9D2238-A1CD-1744-8802-C58D73344F5F}" type="slidenum">
              <a:rPr lang="en-US" sz="900" smtClean="0">
                <a:solidFill>
                  <a:srgbClr val="F1BE48"/>
                </a:solidFill>
              </a:rPr>
              <a:pPr/>
              <a:t>‹#›</a:t>
            </a:fld>
            <a:endParaRPr lang="en-US" sz="900" dirty="0">
              <a:solidFill>
                <a:srgbClr val="F1BE48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767262"/>
            <a:ext cx="9144000" cy="3762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/>
          <p:cNvSpPr/>
          <p:nvPr userDrawn="1"/>
        </p:nvSpPr>
        <p:spPr>
          <a:xfrm>
            <a:off x="0" y="4594624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609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1BE48"/>
                </a:solidFill>
              </a:rPr>
              <a:t>Duwe, Spring 2020 © ISU</a:t>
            </a: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3276600" y="4881564"/>
            <a:ext cx="2895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F1BE48"/>
                </a:solidFill>
              </a:rPr>
              <a:t>CprE</a:t>
            </a:r>
            <a:r>
              <a:rPr lang="en-US" sz="900" dirty="0">
                <a:solidFill>
                  <a:srgbClr val="F1BE48"/>
                </a:solidFill>
              </a:rPr>
              <a:t> 381: Design Cycle &amp; Structured Pairing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6705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Lec01.</a:t>
            </a:r>
            <a:fld id="{4B9D2238-A1CD-1744-8802-C58D73344F5F}" type="slidenum">
              <a:rPr lang="en-US" sz="900" smtClean="0">
                <a:solidFill>
                  <a:srgbClr val="F1BE48"/>
                </a:solidFill>
              </a:rPr>
              <a:pPr/>
              <a:t>‹#›</a:t>
            </a:fld>
            <a:endParaRPr lang="en-US" sz="900" dirty="0">
              <a:solidFill>
                <a:srgbClr val="F1BE48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063229"/>
            <a:ext cx="9144000" cy="1191"/>
          </a:xfrm>
          <a:prstGeom prst="line">
            <a:avLst/>
          </a:prstGeom>
          <a:ln w="101600" cap="flat" cmpd="sng" algn="ctr">
            <a:solidFill>
              <a:srgbClr val="C8102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-16067" y="1167811"/>
            <a:ext cx="9160067" cy="1191"/>
          </a:xfrm>
          <a:prstGeom prst="line">
            <a:avLst/>
          </a:prstGeom>
          <a:ln w="508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4767262"/>
            <a:ext cx="9144000" cy="3762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 userDrawn="1"/>
        </p:nvSpPr>
        <p:spPr>
          <a:xfrm>
            <a:off x="0" y="4594624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609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Duwe, Spring 2018 © ISU</a:t>
            </a:r>
            <a:endParaRPr lang="en-US" sz="900" dirty="0">
              <a:solidFill>
                <a:srgbClr val="F1BE48"/>
              </a:solidFill>
            </a:endParaRP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3276600" y="4881564"/>
            <a:ext cx="2895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CprE 381: Intro &amp; Syllabus</a:t>
            </a:r>
            <a:endParaRPr lang="en-US" sz="900" dirty="0">
              <a:solidFill>
                <a:srgbClr val="F1BE48"/>
              </a:solidFill>
            </a:endParaRP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705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Lec01.</a:t>
            </a:r>
            <a:fld id="{4B9D2238-A1CD-1744-8802-C58D73344F5F}" type="slidenum">
              <a:rPr lang="en-US" sz="900" smtClean="0">
                <a:solidFill>
                  <a:srgbClr val="F1BE48"/>
                </a:solidFill>
              </a:rPr>
              <a:pPr/>
              <a:t>‹#›</a:t>
            </a:fld>
            <a:endParaRPr lang="en-US" sz="900" dirty="0">
              <a:solidFill>
                <a:srgbClr val="F1BE48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-2320925" y="2320925"/>
            <a:ext cx="5143500" cy="5016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 userDrawn="1"/>
        </p:nvSpPr>
        <p:spPr>
          <a:xfrm>
            <a:off x="-1" y="4970860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-2320925" y="2320925"/>
            <a:ext cx="5143500" cy="5016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1955003" y="2456657"/>
            <a:ext cx="5143501" cy="230189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594624"/>
            <a:ext cx="9144000" cy="17264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 userDrawn="1"/>
        </p:nvSpPr>
        <p:spPr>
          <a:xfrm>
            <a:off x="0" y="4767262"/>
            <a:ext cx="9144000" cy="3762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Date Placeholder 3"/>
          <p:cNvSpPr txBox="1">
            <a:spLocks/>
          </p:cNvSpPr>
          <p:nvPr userDrawn="1"/>
        </p:nvSpPr>
        <p:spPr>
          <a:xfrm>
            <a:off x="609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1BE48"/>
                </a:solidFill>
              </a:rPr>
              <a:t>Duwe, Spring 2020 © ISU</a:t>
            </a: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3276600" y="4881564"/>
            <a:ext cx="2895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F1BE48"/>
                </a:solidFill>
              </a:rPr>
              <a:t>CprE</a:t>
            </a:r>
            <a:r>
              <a:rPr lang="en-US" sz="900" dirty="0">
                <a:solidFill>
                  <a:srgbClr val="F1BE48"/>
                </a:solidFill>
              </a:rPr>
              <a:t> 381: Design Cycle &amp; Structured Pairing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6705600" y="4881564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1BE48"/>
                </a:solidFill>
              </a:rPr>
              <a:t>Lec01.</a:t>
            </a:r>
            <a:fld id="{4B9D2238-A1CD-1744-8802-C58D73344F5F}" type="slidenum">
              <a:rPr lang="en-US" sz="900" smtClean="0">
                <a:solidFill>
                  <a:srgbClr val="F1BE48"/>
                </a:solidFill>
              </a:rPr>
              <a:pPr/>
              <a:t>‹#›</a:t>
            </a:fld>
            <a:endParaRPr lang="en-US" sz="900" dirty="0">
              <a:solidFill>
                <a:srgbClr val="F1BE48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6CD2-2A74-7F4F-9D02-823DFCA505E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2238-A1CD-1744-8802-C58D73344F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Duwe, Spring 2020 © ISU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dirty="0" err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CprE</a:t>
            </a:r>
            <a:r>
              <a:rPr lang="en-US" dirty="0"/>
              <a:t> 381: Design Cycle &amp; Structured Pairing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Lec01.1.</a:t>
            </a:r>
            <a:fld id="{4B9D2238-A1CD-1744-8802-C58D73344F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886524"/>
            <a:ext cx="5829300" cy="1813816"/>
          </a:xfrm>
        </p:spPr>
        <p:txBody>
          <a:bodyPr>
            <a:normAutofit/>
          </a:bodyPr>
          <a:lstStyle/>
          <a:p>
            <a:r>
              <a:rPr lang="en-US" dirty="0" err="1"/>
              <a:t>CprE</a:t>
            </a:r>
            <a:r>
              <a:rPr lang="en-US" dirty="0"/>
              <a:t> 381: Computer Organization and Assembly Level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3684084"/>
            <a:ext cx="4800600" cy="1314450"/>
          </a:xfrm>
        </p:spPr>
        <p:txBody>
          <a:bodyPr>
            <a:normAutofit/>
          </a:bodyPr>
          <a:lstStyle/>
          <a:p>
            <a:r>
              <a:rPr lang="en-US" sz="1800" dirty="0"/>
              <a:t>Henry Duwe</a:t>
            </a:r>
          </a:p>
          <a:p>
            <a:r>
              <a:rPr lang="en-US" sz="1800" dirty="0"/>
              <a:t>Electrical and Computer Engineering</a:t>
            </a:r>
          </a:p>
          <a:p>
            <a:r>
              <a:rPr lang="en-US" sz="1800" dirty="0"/>
              <a:t>Iowa State University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2610FD-480C-4949-982D-73671BC359B0}"/>
              </a:ext>
            </a:extLst>
          </p:cNvPr>
          <p:cNvSpPr txBox="1">
            <a:spLocks/>
          </p:cNvSpPr>
          <p:nvPr/>
        </p:nvSpPr>
        <p:spPr>
          <a:xfrm>
            <a:off x="2171700" y="2997022"/>
            <a:ext cx="4800600" cy="3903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Lab Week 3 VHDL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 Model Truth Table Part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1" y="537730"/>
            <a:ext cx="8229599" cy="396199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Use with select… when statement (</a:t>
            </a:r>
            <a:r>
              <a:rPr lang="en-US" sz="2100" dirty="0" err="1">
                <a:solidFill>
                  <a:srgbClr val="0039A6"/>
                </a:solidFill>
                <a:latin typeface="Aril"/>
                <a:cs typeface="Aril"/>
              </a:rPr>
              <a:t>FreeRange</a:t>
            </a: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 VHDL Listing 4.13 for full file)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entity my_4t1_mux is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port (D3,D2,D1,D0 : in </a:t>
            </a:r>
            <a:r>
              <a:rPr lang="en-US" sz="1650" dirty="0" err="1">
                <a:latin typeface="Lucida Console"/>
                <a:cs typeface="Lucida Console"/>
              </a:rPr>
              <a:t>std_logic</a:t>
            </a:r>
            <a:r>
              <a:rPr lang="en-US" sz="1650" dirty="0">
                <a:latin typeface="Lucida Console"/>
                <a:cs typeface="Lucida Console"/>
              </a:rPr>
              <a:t>;</a:t>
            </a:r>
          </a:p>
          <a:p>
            <a:pPr marL="1119188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SEL : in </a:t>
            </a:r>
            <a:r>
              <a:rPr lang="en-US" sz="1650" dirty="0" err="1">
                <a:latin typeface="Lucida Console"/>
                <a:cs typeface="Lucida Console"/>
              </a:rPr>
              <a:t>std_logic_vector</a:t>
            </a:r>
            <a:r>
              <a:rPr lang="en-US" sz="1650" dirty="0">
                <a:latin typeface="Lucida Console"/>
                <a:cs typeface="Lucida Console"/>
              </a:rPr>
              <a:t>(1 </a:t>
            </a:r>
            <a:r>
              <a:rPr lang="en-US" sz="1650" dirty="0" err="1">
                <a:latin typeface="Lucida Console"/>
                <a:cs typeface="Lucida Console"/>
              </a:rPr>
              <a:t>downto</a:t>
            </a:r>
            <a:r>
              <a:rPr lang="en-US" sz="1650" dirty="0">
                <a:latin typeface="Lucida Console"/>
                <a:cs typeface="Lucida Console"/>
              </a:rPr>
              <a:t> 0);</a:t>
            </a:r>
          </a:p>
          <a:p>
            <a:pPr marL="1119188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MX_OUT : out </a:t>
            </a:r>
            <a:r>
              <a:rPr lang="en-US" sz="1650" dirty="0" err="1">
                <a:latin typeface="Lucida Console"/>
                <a:cs typeface="Lucida Console"/>
              </a:rPr>
              <a:t>std_logic</a:t>
            </a:r>
            <a:r>
              <a:rPr lang="en-US" sz="1650" dirty="0">
                <a:latin typeface="Lucida Console"/>
                <a:cs typeface="Lucida Console"/>
              </a:rPr>
              <a:t>);</a:t>
            </a:r>
          </a:p>
          <a:p>
            <a:pPr marL="8335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end my_4t1_mux;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architecture mux4t1 of my_4t1_mux is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begin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with SEL select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MX_OUT &lt;= D3 when “11”,</a:t>
            </a:r>
          </a:p>
          <a:p>
            <a:pPr marL="1587104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D2 when “10”,</a:t>
            </a:r>
          </a:p>
          <a:p>
            <a:pPr marL="1587104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D1 when “01”,</a:t>
            </a:r>
          </a:p>
          <a:p>
            <a:pPr marL="1587104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D0 when “00”,</a:t>
            </a:r>
          </a:p>
          <a:p>
            <a:pPr marL="1587104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‘0’ when others;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end mux4t1;</a:t>
            </a: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53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 Model Truth Table Part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1" y="537730"/>
            <a:ext cx="8229599" cy="396199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Use with select … when statement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(</a:t>
            </a:r>
            <a:r>
              <a:rPr lang="en-US" sz="2100" dirty="0" err="1">
                <a:solidFill>
                  <a:srgbClr val="0039A6"/>
                </a:solidFill>
                <a:latin typeface="Aril"/>
                <a:cs typeface="Aril"/>
              </a:rPr>
              <a:t>FreeRange</a:t>
            </a: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 VHDL Listing 13.10 for more information)</a:t>
            </a:r>
          </a:p>
          <a:p>
            <a:pPr marL="0" indent="0">
              <a:lnSpc>
                <a:spcPct val="80000"/>
              </a:lnSpc>
              <a:buNone/>
            </a:pPr>
            <a:endParaRPr lang="en-US" sz="2100" dirty="0">
              <a:solidFill>
                <a:srgbClr val="0039A6"/>
              </a:solidFill>
              <a:latin typeface="Aril"/>
              <a:cs typeface="Aril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with D_IN select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F_OUT &lt;=  “00000001” when “000”,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“00000010” when “001”,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“00000100” when “010”,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“00001000” when “011”,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“00010000” when “100”,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“00100000” when “101”,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“01000000” when “110”,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  “10000000” when “111”,</a:t>
            </a:r>
          </a:p>
          <a:p>
            <a:pPr marL="1587104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“00000000” when others;</a:t>
            </a: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A99F4F-44CA-1B15-FDDC-4B8AFAB9A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119" y="2028911"/>
            <a:ext cx="32766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1" y="537730"/>
            <a:ext cx="8229599" cy="396199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Use with others assignment (</a:t>
            </a:r>
            <a:r>
              <a:rPr lang="en-US" sz="2100" dirty="0" err="1">
                <a:solidFill>
                  <a:srgbClr val="0039A6"/>
                </a:solidFill>
                <a:latin typeface="Aril"/>
                <a:cs typeface="Aril"/>
              </a:rPr>
              <a:t>FreeRange</a:t>
            </a:r>
            <a:r>
              <a:rPr lang="en-US" sz="2100" dirty="0">
                <a:solidFill>
                  <a:srgbClr val="0039A6"/>
                </a:solidFill>
                <a:latin typeface="Aril"/>
                <a:cs typeface="Aril"/>
              </a:rPr>
              <a:t> VHDL 10.2 for more information)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with SEL select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</a:t>
            </a:r>
            <a:r>
              <a:rPr lang="en-US" sz="1650" dirty="0" err="1">
                <a:latin typeface="Lucida Console"/>
                <a:cs typeface="Lucida Console"/>
              </a:rPr>
              <a:t>s_mux_result</a:t>
            </a:r>
            <a:r>
              <a:rPr lang="en-US" sz="1650" dirty="0">
                <a:latin typeface="Lucida Console"/>
                <a:cs typeface="Lucida Console"/>
              </a:rPr>
              <a:t> &lt;= D0 when ‘0’,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			D1 when ‘1’,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							(others =&gt; ‘0’) when others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342891" indent="-342891" rtl="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/>
                <a:cs typeface="Segoe UI"/>
              </a:rPr>
              <a:t>The model for the 2:1 MUX uses the terminology </a:t>
            </a:r>
            <a:r>
              <a:rPr lang="en-US" sz="2000" dirty="0">
                <a:solidFill>
                  <a:srgbClr val="C80000"/>
                </a:solidFill>
                <a:latin typeface="Arial"/>
                <a:cs typeface="Segoe UI"/>
              </a:rPr>
              <a:t>(others =&gt; '0')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Segoe UI"/>
              </a:rPr>
              <a:t>. This is a short-hand terminology for assigning  all of the outputs to '0'.</a:t>
            </a:r>
            <a:endParaRPr lang="en-US" sz="2000" dirty="0"/>
          </a:p>
          <a:p>
            <a:pPr marL="342891" indent="-342891">
              <a:buFont typeface="Arial"/>
              <a:buChar char="•"/>
            </a:pPr>
            <a:endParaRPr lang="en-US" sz="2000" dirty="0">
              <a:solidFill>
                <a:srgbClr val="000000"/>
              </a:solidFill>
              <a:latin typeface="Arial"/>
              <a:cs typeface="Segoe UI"/>
            </a:endParaRPr>
          </a:p>
          <a:p>
            <a:pPr marL="342891" indent="-342891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/>
                <a:cs typeface="Segoe UI"/>
              </a:rPr>
              <a:t>The neat part about this instruction is that you do not need to know how many 0's you need to write. 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Segoe UI"/>
              </a:rPr>
              <a:t>If the width of the associated bundle were to change, this particular line of code would not need to be modified.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676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B431C535-38DA-76C3-4926-5111CC7E5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221" y="1648831"/>
            <a:ext cx="3947861" cy="18458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User-Defined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62" y="611126"/>
            <a:ext cx="8905138" cy="396199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rgbClr val="0039A6"/>
                </a:solidFill>
                <a:latin typeface="Aril"/>
                <a:cs typeface="Aril"/>
              </a:rPr>
              <a:t>Use Custom types for simplification and organization (</a:t>
            </a:r>
            <a:r>
              <a:rPr lang="en-US" sz="1600" dirty="0" err="1">
                <a:solidFill>
                  <a:srgbClr val="0039A6"/>
                </a:solidFill>
                <a:latin typeface="Aril"/>
                <a:cs typeface="Aril"/>
              </a:rPr>
              <a:t>FreeRange</a:t>
            </a:r>
            <a:r>
              <a:rPr lang="en-US" sz="1600" dirty="0">
                <a:solidFill>
                  <a:srgbClr val="0039A6"/>
                </a:solidFill>
                <a:latin typeface="Aril"/>
                <a:cs typeface="Aril"/>
              </a:rPr>
              <a:t> VHDL 11.6 for more information)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type </a:t>
            </a:r>
            <a:r>
              <a:rPr lang="en-US" sz="1650" dirty="0" err="1">
                <a:latin typeface="Lucida Console"/>
                <a:cs typeface="Lucida Console"/>
              </a:rPr>
              <a:t>bus_t</a:t>
            </a:r>
            <a:r>
              <a:rPr lang="en-US" sz="1650" dirty="0">
                <a:latin typeface="Lucida Console"/>
                <a:cs typeface="Lucida Console"/>
              </a:rPr>
              <a:t> is array(3 </a:t>
            </a:r>
            <a:r>
              <a:rPr lang="en-US" sz="1650" dirty="0" err="1">
                <a:latin typeface="Lucida Console"/>
                <a:cs typeface="Lucida Console"/>
              </a:rPr>
              <a:t>downto</a:t>
            </a:r>
            <a:r>
              <a:rPr lang="en-US" sz="1650" dirty="0">
                <a:latin typeface="Lucida Console"/>
                <a:cs typeface="Lucida Console"/>
              </a:rPr>
              <a:t> 0) of </a:t>
            </a:r>
            <a:r>
              <a:rPr lang="en-US" sz="1650" dirty="0" err="1">
                <a:latin typeface="Lucida Console"/>
                <a:cs typeface="Lucida Console"/>
              </a:rPr>
              <a:t>std_logic_vector</a:t>
            </a:r>
            <a:r>
              <a:rPr lang="en-US" sz="1650" dirty="0">
                <a:latin typeface="Lucida Console"/>
                <a:cs typeface="Lucida Console"/>
              </a:rPr>
              <a:t>(31 </a:t>
            </a:r>
            <a:r>
              <a:rPr lang="en-US" sz="1650" dirty="0" err="1">
                <a:latin typeface="Lucida Console"/>
                <a:cs typeface="Lucida Console"/>
              </a:rPr>
              <a:t>downto</a:t>
            </a:r>
            <a:r>
              <a:rPr lang="en-US" sz="1650" dirty="0">
                <a:latin typeface="Lucida Console"/>
                <a:cs typeface="Lucida Console"/>
              </a:rPr>
              <a:t> 0);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>
                <a:latin typeface="Lucida Console"/>
                <a:cs typeface="Lucida Console"/>
              </a:rPr>
              <a:t>Signal </a:t>
            </a:r>
            <a:r>
              <a:rPr lang="en-US" sz="1650" dirty="0" err="1">
                <a:latin typeface="Lucida Console"/>
                <a:cs typeface="Lucida Console"/>
              </a:rPr>
              <a:t>mux_bus</a:t>
            </a:r>
            <a:r>
              <a:rPr lang="en-US" sz="1650" dirty="0">
                <a:latin typeface="Lucida Console"/>
                <a:cs typeface="Lucida Console"/>
              </a:rPr>
              <a:t> : </a:t>
            </a:r>
            <a:r>
              <a:rPr lang="en-US" sz="1650" dirty="0" err="1">
                <a:latin typeface="Lucida Console"/>
                <a:cs typeface="Lucida Console"/>
              </a:rPr>
              <a:t>bus_t</a:t>
            </a:r>
            <a:r>
              <a:rPr lang="en-US" sz="1650" dirty="0">
                <a:latin typeface="Lucida Console"/>
                <a:cs typeface="Lucida Console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1650" dirty="0" err="1">
                <a:latin typeface="Lucida Console"/>
                <a:cs typeface="Lucida Console"/>
              </a:rPr>
              <a:t>mux_bux</a:t>
            </a:r>
            <a:r>
              <a:rPr lang="en-US" sz="1650" dirty="0">
                <a:latin typeface="Lucida Console"/>
                <a:cs typeface="Lucida Console"/>
              </a:rPr>
              <a:t>(0) &lt;= </a:t>
            </a:r>
            <a:r>
              <a:rPr lang="en-US" sz="1650" dirty="0" err="1">
                <a:latin typeface="Lucida Console"/>
                <a:cs typeface="Lucida Console"/>
              </a:rPr>
              <a:t>x”DEADBEEF</a:t>
            </a:r>
            <a:r>
              <a:rPr lang="en-US" sz="1650" dirty="0">
                <a:latin typeface="Lucida Console"/>
                <a:cs typeface="Lucida Console"/>
              </a:rPr>
              <a:t>”;</a:t>
            </a:r>
          </a:p>
          <a:p>
            <a:pPr marL="0" indent="0">
              <a:buNone/>
            </a:pPr>
            <a:r>
              <a:rPr lang="en-US" sz="1650" dirty="0" err="1">
                <a:latin typeface="Lucida Console"/>
                <a:cs typeface="Segoe UI"/>
              </a:rPr>
              <a:t>Mux_bus</a:t>
            </a:r>
            <a:r>
              <a:rPr lang="en-US" sz="1650" dirty="0">
                <a:latin typeface="Lucida Console"/>
                <a:cs typeface="Segoe UI"/>
              </a:rPr>
              <a:t>(1) &lt;= x”00000001”;</a:t>
            </a:r>
            <a:endParaRPr lang="en-US" sz="2000" dirty="0">
              <a:solidFill>
                <a:srgbClr val="000000"/>
              </a:solidFill>
              <a:latin typeface="Arial"/>
              <a:cs typeface="Segoe UI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Arial"/>
              <a:cs typeface="Segoe UI"/>
            </a:endParaRPr>
          </a:p>
          <a:p>
            <a:pPr marL="342891" indent="-342891" rtl="0">
              <a:buChar char="•"/>
            </a:pPr>
            <a:r>
              <a:rPr lang="en-US" sz="2000" dirty="0">
                <a:latin typeface="Arial"/>
                <a:cs typeface="Arial"/>
              </a:rPr>
              <a:t>This syntax is handy for large groups of signals and can reduce clutter within your code. </a:t>
            </a:r>
            <a:r>
              <a:rPr lang="en-US" sz="2000" b="1" dirty="0">
                <a:latin typeface="Arial"/>
                <a:cs typeface="Arial"/>
              </a:rPr>
              <a:t>Can be especially powerful when paired with generate loops to individually connect multiple components.</a:t>
            </a:r>
            <a:endParaRPr lang="en-US" sz="1600" b="1" dirty="0"/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4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Packages Part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63" y="611126"/>
            <a:ext cx="8447938" cy="387665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dirty="0" err="1">
                <a:solidFill>
                  <a:srgbClr val="0039A6"/>
                </a:solidFill>
                <a:latin typeface="Aril"/>
                <a:cs typeface="Aril"/>
              </a:rPr>
              <a:t>my_package.vhd</a:t>
            </a: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package </a:t>
            </a:r>
            <a:r>
              <a:rPr lang="en-US" sz="1600" b="0" dirty="0" err="1">
                <a:solidFill>
                  <a:schemeClr val="tx1"/>
                </a:solidFill>
              </a:rPr>
              <a:t>my_package</a:t>
            </a:r>
            <a:r>
              <a:rPr lang="en-US" sz="1600" b="0" dirty="0">
                <a:solidFill>
                  <a:schemeClr val="tx1"/>
                </a:solidFill>
              </a:rPr>
              <a:t> </a:t>
            </a:r>
            <a:r>
              <a:rPr lang="en-US" sz="1600" b="0" dirty="0">
                <a:solidFill>
                  <a:srgbClr val="C80000"/>
                </a:solidFill>
              </a:rPr>
              <a:t>is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 constant </a:t>
            </a:r>
            <a:r>
              <a:rPr lang="en-US" sz="1600" b="0" dirty="0" err="1">
                <a:solidFill>
                  <a:schemeClr val="tx1"/>
                </a:solidFill>
              </a:rPr>
              <a:t>four_bit_zero</a:t>
            </a:r>
            <a:r>
              <a:rPr lang="en-US" sz="1600" b="0" dirty="0">
                <a:solidFill>
                  <a:schemeClr val="tx1"/>
                </a:solidFill>
              </a:rPr>
              <a:t> : </a:t>
            </a:r>
            <a:r>
              <a:rPr lang="en-US" sz="1600" b="0" dirty="0" err="1">
                <a:solidFill>
                  <a:schemeClr val="tx1"/>
                </a:solidFill>
              </a:rPr>
              <a:t>std_logic_vector</a:t>
            </a:r>
            <a:r>
              <a:rPr lang="en-US" sz="1600" b="0" dirty="0">
                <a:solidFill>
                  <a:schemeClr val="tx1"/>
                </a:solidFill>
              </a:rPr>
              <a:t> := "0000";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 type t_bus_2x32 is array (0 to 1) of </a:t>
            </a:r>
            <a:r>
              <a:rPr lang="en-US" sz="1600" b="0" dirty="0" err="1">
                <a:solidFill>
                  <a:schemeClr val="tx1"/>
                </a:solidFill>
              </a:rPr>
              <a:t>std_logic_vector</a:t>
            </a:r>
            <a:r>
              <a:rPr lang="en-US" sz="1600" b="0" dirty="0">
                <a:solidFill>
                  <a:schemeClr val="tx1"/>
                </a:solidFill>
              </a:rPr>
              <a:t>(31 </a:t>
            </a:r>
            <a:r>
              <a:rPr lang="en-US" sz="1600" b="0" dirty="0" err="1">
                <a:solidFill>
                  <a:schemeClr val="tx1"/>
                </a:solidFill>
              </a:rPr>
              <a:t>downto</a:t>
            </a:r>
            <a:r>
              <a:rPr lang="en-US" sz="1600" b="0" dirty="0">
                <a:solidFill>
                  <a:schemeClr val="tx1"/>
                </a:solidFill>
              </a:rPr>
              <a:t> 0);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end </a:t>
            </a:r>
            <a:r>
              <a:rPr lang="en-US" sz="1600" b="0" dirty="0">
                <a:solidFill>
                  <a:schemeClr val="tx1"/>
                </a:solidFill>
              </a:rPr>
              <a:t>package </a:t>
            </a:r>
            <a:r>
              <a:rPr lang="en-US" sz="1600" b="0" dirty="0" err="1">
                <a:solidFill>
                  <a:schemeClr val="tx1"/>
                </a:solidFill>
              </a:rPr>
              <a:t>my_package</a:t>
            </a:r>
            <a:r>
              <a:rPr lang="en-US" sz="1600" b="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b="0" dirty="0">
              <a:solidFill>
                <a:schemeClr val="tx1"/>
              </a:solidFill>
            </a:endParaRPr>
          </a:p>
          <a:p>
            <a:pPr marL="342900" indent="-342900" rtl="0">
              <a:buChar char="•"/>
            </a:pPr>
            <a:r>
              <a:rPr lang="en-US" sz="1800" dirty="0">
                <a:latin typeface="Arial"/>
                <a:cs typeface="Arial"/>
              </a:rPr>
              <a:t>Similar to header file in C, you can define custom data types, set constants, or even define functions</a:t>
            </a:r>
          </a:p>
          <a:p>
            <a:pPr marL="342900" indent="-342900">
              <a:buChar char="•"/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This file will need to be referenced in your subsequent component files to be useful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and it always needs to be compiled before the dependent files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. </a:t>
            </a:r>
          </a:p>
          <a:p>
            <a:pPr marL="0" indent="0">
              <a:buNone/>
            </a:pPr>
            <a:endParaRPr lang="en-US" sz="1600" b="0" dirty="0">
              <a:solidFill>
                <a:schemeClr val="tx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1650" dirty="0">
              <a:latin typeface="Lucida Console"/>
              <a:cs typeface="Lucida Console"/>
            </a:endParaRP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5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User-Defined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31" y="590754"/>
            <a:ext cx="8905138" cy="396199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rgbClr val="0039A6"/>
                </a:solidFill>
                <a:latin typeface="Aril"/>
                <a:cs typeface="Aril"/>
              </a:rPr>
              <a:t>Mux32b2t1.vhd</a:t>
            </a:r>
            <a:endParaRPr lang="en-US" sz="1650" dirty="0">
              <a:latin typeface="Lucida Console"/>
              <a:cs typeface="Lucida Console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use </a:t>
            </a:r>
            <a:r>
              <a:rPr lang="en-US" sz="1600" b="0" dirty="0" err="1">
                <a:solidFill>
                  <a:schemeClr val="tx1"/>
                </a:solidFill>
              </a:rPr>
              <a:t>work.my_package.</a:t>
            </a:r>
            <a:r>
              <a:rPr lang="en-US" sz="1600" b="0" dirty="0" err="1">
                <a:solidFill>
                  <a:srgbClr val="C80000"/>
                </a:solidFill>
              </a:rPr>
              <a:t>all</a:t>
            </a:r>
            <a:r>
              <a:rPr lang="en-US" sz="1600" b="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use</a:t>
            </a:r>
            <a:r>
              <a:rPr lang="en-US" sz="1600" b="0" dirty="0">
                <a:solidFill>
                  <a:schemeClr val="tx1"/>
                </a:solidFill>
              </a:rPr>
              <a:t> </a:t>
            </a:r>
            <a:r>
              <a:rPr lang="en-US" sz="1600" dirty="0" err="1"/>
              <a:t>I</a:t>
            </a:r>
            <a:r>
              <a:rPr lang="en-US" sz="1600" b="0" dirty="0" err="1">
                <a:solidFill>
                  <a:schemeClr val="tx1"/>
                </a:solidFill>
              </a:rPr>
              <a:t>EEE.numeric</a:t>
            </a:r>
            <a:r>
              <a:rPr lang="en-US" sz="1600" dirty="0" err="1"/>
              <a:t>.std</a:t>
            </a:r>
            <a:r>
              <a:rPr lang="en-US" sz="1600" dirty="0"/>
              <a:t>.</a:t>
            </a:r>
            <a:r>
              <a:rPr lang="en-US" sz="1600" b="0" dirty="0">
                <a:solidFill>
                  <a:srgbClr val="C80000"/>
                </a:solidFill>
              </a:rPr>
              <a:t> all</a:t>
            </a:r>
            <a:r>
              <a:rPr lang="en-US" sz="1600" dirty="0"/>
              <a:t>;</a:t>
            </a:r>
            <a:endParaRPr lang="en-US" sz="16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b="0" dirty="0">
              <a:solidFill>
                <a:srgbClr val="C80000"/>
              </a:solidFill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entity </a:t>
            </a:r>
            <a:r>
              <a:rPr lang="en-US" sz="1600" b="0" dirty="0" err="1">
                <a:solidFill>
                  <a:schemeClr val="tx1"/>
                </a:solidFill>
              </a:rPr>
              <a:t>big_mux</a:t>
            </a:r>
            <a:r>
              <a:rPr lang="en-US" sz="1600" b="0" dirty="0">
                <a:solidFill>
                  <a:schemeClr val="tx1"/>
                </a:solidFill>
              </a:rPr>
              <a:t> </a:t>
            </a:r>
            <a:r>
              <a:rPr lang="en-US" sz="1600" b="0" dirty="0">
                <a:solidFill>
                  <a:srgbClr val="C80000"/>
                </a:solidFill>
              </a:rPr>
              <a:t>is</a:t>
            </a:r>
            <a:endParaRPr lang="en-US" sz="1400" dirty="0">
              <a:solidFill>
                <a:srgbClr val="C80000"/>
              </a:solidFill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   port( data : in t_bus_2x32;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     </a:t>
            </a:r>
            <a:r>
              <a:rPr lang="en-US" sz="1600" b="0" dirty="0" err="1">
                <a:solidFill>
                  <a:schemeClr val="tx1"/>
                </a:solidFill>
              </a:rPr>
              <a:t>sel</a:t>
            </a:r>
            <a:r>
              <a:rPr lang="en-US" sz="1600" b="0" dirty="0">
                <a:solidFill>
                  <a:schemeClr val="tx1"/>
                </a:solidFill>
              </a:rPr>
              <a:t>   : in </a:t>
            </a:r>
            <a:r>
              <a:rPr lang="en-US" sz="1600" b="0" dirty="0" err="1">
                <a:solidFill>
                  <a:schemeClr val="tx1"/>
                </a:solidFill>
              </a:rPr>
              <a:t>std_logic_vector</a:t>
            </a:r>
            <a:r>
              <a:rPr lang="en-US" sz="1600" b="0" dirty="0">
                <a:solidFill>
                  <a:schemeClr val="tx1"/>
                </a:solidFill>
              </a:rPr>
              <a:t>(0 </a:t>
            </a:r>
            <a:r>
              <a:rPr lang="en-US" sz="1600" b="0" dirty="0" err="1">
                <a:solidFill>
                  <a:schemeClr val="tx1"/>
                </a:solidFill>
              </a:rPr>
              <a:t>downto</a:t>
            </a:r>
            <a:r>
              <a:rPr lang="en-US" sz="1600" b="0" dirty="0">
                <a:solidFill>
                  <a:schemeClr val="tx1"/>
                </a:solidFill>
              </a:rPr>
              <a:t> 0);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     out  : out </a:t>
            </a:r>
            <a:r>
              <a:rPr lang="en-US" sz="1600" b="0" dirty="0" err="1">
                <a:solidFill>
                  <a:schemeClr val="tx1"/>
                </a:solidFill>
              </a:rPr>
              <a:t>std_logic_vector</a:t>
            </a:r>
            <a:r>
              <a:rPr lang="en-US" sz="1600" b="0" dirty="0">
                <a:solidFill>
                  <a:schemeClr val="tx1"/>
                </a:solidFill>
              </a:rPr>
              <a:t>(31 </a:t>
            </a:r>
            <a:r>
              <a:rPr lang="en-US" sz="1600" b="0" dirty="0" err="1">
                <a:solidFill>
                  <a:schemeClr val="tx1"/>
                </a:solidFill>
              </a:rPr>
              <a:t>downto</a:t>
            </a:r>
            <a:r>
              <a:rPr lang="en-US" sz="1600" b="0" dirty="0">
                <a:solidFill>
                  <a:schemeClr val="tx1"/>
                </a:solidFill>
              </a:rPr>
              <a:t> 0));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end </a:t>
            </a:r>
            <a:r>
              <a:rPr lang="en-US" sz="1600" b="0" dirty="0" err="1">
                <a:solidFill>
                  <a:schemeClr val="tx1"/>
                </a:solidFill>
              </a:rPr>
              <a:t>big_mux</a:t>
            </a:r>
            <a:r>
              <a:rPr lang="en-US" sz="1600" b="0" dirty="0">
                <a:solidFill>
                  <a:schemeClr val="tx1"/>
                </a:solidFill>
              </a:rPr>
              <a:t>;</a:t>
            </a:r>
          </a:p>
          <a:p>
            <a:endParaRPr lang="en-US" sz="16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architecture </a:t>
            </a:r>
            <a:r>
              <a:rPr lang="en-US" sz="1600" b="0" dirty="0">
                <a:solidFill>
                  <a:schemeClr val="tx1"/>
                </a:solidFill>
              </a:rPr>
              <a:t>dataflow of </a:t>
            </a:r>
            <a:r>
              <a:rPr lang="en-US" sz="1600" b="0" dirty="0" err="1">
                <a:solidFill>
                  <a:schemeClr val="tx1"/>
                </a:solidFill>
              </a:rPr>
              <a:t>big_mux</a:t>
            </a:r>
            <a:r>
              <a:rPr lang="en-US" sz="1600" b="0" dirty="0">
                <a:solidFill>
                  <a:schemeClr val="tx1"/>
                </a:solidFill>
              </a:rPr>
              <a:t> </a:t>
            </a:r>
            <a:r>
              <a:rPr lang="en-US" sz="1600" b="0" dirty="0">
                <a:solidFill>
                  <a:srgbClr val="C80000"/>
                </a:solidFill>
              </a:rPr>
              <a:t>is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tx1"/>
                </a:solidFill>
              </a:rPr>
              <a:t> out &lt;=data(</a:t>
            </a:r>
            <a:r>
              <a:rPr lang="en-US" sz="1600" b="0" dirty="0" err="1">
                <a:solidFill>
                  <a:schemeClr val="tx1"/>
                </a:solidFill>
              </a:rPr>
              <a:t>to_integer</a:t>
            </a:r>
            <a:r>
              <a:rPr lang="en-US" sz="1600" b="0" dirty="0">
                <a:solidFill>
                  <a:schemeClr val="tx1"/>
                </a:solidFill>
              </a:rPr>
              <a:t>(unsigned(</a:t>
            </a:r>
            <a:r>
              <a:rPr lang="en-US" sz="1600" b="0" dirty="0" err="1">
                <a:solidFill>
                  <a:schemeClr val="tx1"/>
                </a:solidFill>
              </a:rPr>
              <a:t>sel</a:t>
            </a:r>
            <a:r>
              <a:rPr lang="en-US" sz="1600" b="0" dirty="0">
                <a:solidFill>
                  <a:schemeClr val="tx1"/>
                </a:solidFill>
              </a:rPr>
              <a:t>)));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C80000"/>
                </a:solidFill>
              </a:rPr>
              <a:t>end </a:t>
            </a:r>
            <a:r>
              <a:rPr lang="en-US" sz="1600" b="0" dirty="0">
                <a:solidFill>
                  <a:schemeClr val="tx1"/>
                </a:solidFill>
              </a:rPr>
              <a:t>dataflow</a:t>
            </a:r>
            <a:endParaRPr lang="en-US" sz="2800" dirty="0">
              <a:solidFill>
                <a:srgbClr val="000000"/>
              </a:solidFill>
              <a:latin typeface="Arial"/>
              <a:cs typeface="Segoe UI"/>
            </a:endParaRPr>
          </a:p>
        </p:txBody>
      </p:sp>
      <p:pic>
        <p:nvPicPr>
          <p:cNvPr id="1025" name="Picture 1" descr="page52image50211712">
            <a:extLst>
              <a:ext uri="{FF2B5EF4-FFF2-40B4-BE49-F238E27FC236}">
                <a16:creationId xmlns:a16="http://schemas.microsoft.com/office/drawing/2014/main" id="{23709356-B92D-8942-8C54-8210CB0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52image50210368">
            <a:extLst>
              <a:ext uri="{FF2B5EF4-FFF2-40B4-BE49-F238E27FC236}">
                <a16:creationId xmlns:a16="http://schemas.microsoft.com/office/drawing/2014/main" id="{7C93581C-34A7-7F48-A22A-8057BC762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52image52190432">
            <a:extLst>
              <a:ext uri="{FF2B5EF4-FFF2-40B4-BE49-F238E27FC236}">
                <a16:creationId xmlns:a16="http://schemas.microsoft.com/office/drawing/2014/main" id="{7C908890-14D6-6F40-8B16-23E5DE16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825" cy="3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52image50216320">
            <a:extLst>
              <a:ext uri="{FF2B5EF4-FFF2-40B4-BE49-F238E27FC236}">
                <a16:creationId xmlns:a16="http://schemas.microsoft.com/office/drawing/2014/main" id="{A4103C29-068F-3F4E-9B16-DF21A0B3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52image50215936">
            <a:extLst>
              <a:ext uri="{FF2B5EF4-FFF2-40B4-BE49-F238E27FC236}">
                <a16:creationId xmlns:a16="http://schemas.microsoft.com/office/drawing/2014/main" id="{7C1B01EE-9D90-834D-8317-5B2B84CD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52image50274944">
            <a:extLst>
              <a:ext uri="{FF2B5EF4-FFF2-40B4-BE49-F238E27FC236}">
                <a16:creationId xmlns:a16="http://schemas.microsoft.com/office/drawing/2014/main" id="{F3A3E926-1BA6-7C4A-814A-B22E7514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52image50272640">
            <a:extLst>
              <a:ext uri="{FF2B5EF4-FFF2-40B4-BE49-F238E27FC236}">
                <a16:creationId xmlns:a16="http://schemas.microsoft.com/office/drawing/2014/main" id="{F4FC9A75-C64E-C247-9838-5A85FF7B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52image50272256">
            <a:extLst>
              <a:ext uri="{FF2B5EF4-FFF2-40B4-BE49-F238E27FC236}">
                <a16:creationId xmlns:a16="http://schemas.microsoft.com/office/drawing/2014/main" id="{8009AC94-AD96-4F45-9D21-8611CF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52image50268992">
            <a:extLst>
              <a:ext uri="{FF2B5EF4-FFF2-40B4-BE49-F238E27FC236}">
                <a16:creationId xmlns:a16="http://schemas.microsoft.com/office/drawing/2014/main" id="{DDDD4F77-5721-3444-965D-ADADA8A8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22955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23AA5-FE6E-C05F-7049-62A854966ED9}"/>
              </a:ext>
            </a:extLst>
          </p:cNvPr>
          <p:cNvSpPr txBox="1"/>
          <p:nvPr/>
        </p:nvSpPr>
        <p:spPr>
          <a:xfrm>
            <a:off x="4114800" y="733924"/>
            <a:ext cx="44852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*Notice we had to import our package 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use the syntax "</a:t>
            </a:r>
            <a:r>
              <a:rPr lang="en-US" sz="1600" b="1" dirty="0">
                <a:solidFill>
                  <a:srgbClr val="C80000"/>
                </a:solidFill>
                <a:latin typeface="Arial"/>
                <a:cs typeface="Arial"/>
              </a:rPr>
              <a:t>use </a:t>
            </a:r>
            <a:r>
              <a:rPr lang="en-US" sz="1600" b="1" dirty="0" err="1">
                <a:solidFill>
                  <a:srgbClr val="000000"/>
                </a:solidFill>
                <a:latin typeface="Arial"/>
                <a:cs typeface="Arial"/>
              </a:rPr>
              <a:t>work.my_package.</a:t>
            </a:r>
            <a:r>
              <a:rPr lang="en-US" sz="1600" b="1" dirty="0" err="1">
                <a:solidFill>
                  <a:srgbClr val="C80000"/>
                </a:solidFill>
                <a:latin typeface="Arial"/>
                <a:cs typeface="Arial"/>
              </a:rPr>
              <a:t>all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;".</a:t>
            </a:r>
          </a:p>
        </p:txBody>
      </p:sp>
    </p:spTree>
    <p:extLst>
      <p:ext uri="{BB962C8B-B14F-4D97-AF65-F5344CB8AC3E}">
        <p14:creationId xmlns:p14="http://schemas.microsoft.com/office/powerpoint/2010/main" val="362513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892AA94526344684B757C5162A1180" ma:contentTypeVersion="4" ma:contentTypeDescription="Create a new document." ma:contentTypeScope="" ma:versionID="e89984e3200cf68cc03fac5eae4b0ccc">
  <xsd:schema xmlns:xsd="http://www.w3.org/2001/XMLSchema" xmlns:xs="http://www.w3.org/2001/XMLSchema" xmlns:p="http://schemas.microsoft.com/office/2006/metadata/properties" xmlns:ns2="5c7ff842-40a8-44dc-b94b-9711358bcbb4" targetNamespace="http://schemas.microsoft.com/office/2006/metadata/properties" ma:root="true" ma:fieldsID="be63102ce1445e2c4d6408a142453b9b" ns2:_="">
    <xsd:import namespace="5c7ff842-40a8-44dc-b94b-9711358bcb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ff842-40a8-44dc-b94b-9711358bcb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7870DA-80C9-4B59-8464-B9729441DC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DA8F4C-6B2A-4431-A6C7-6743353A7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7ff842-40a8-44dc-b94b-9711358bcb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27854</TotalTime>
  <Words>780</Words>
  <Application>Microsoft Office PowerPoint</Application>
  <PresentationFormat>On-screen Show (16:9)</PresentationFormat>
  <Paragraphs>92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Aril</vt:lpstr>
      <vt:lpstr>Calibri</vt:lpstr>
      <vt:lpstr>Lucida Console</vt:lpstr>
      <vt:lpstr>Office Theme</vt:lpstr>
      <vt:lpstr>CprE 381: Computer Organization and Assembly Level Programming</vt:lpstr>
      <vt:lpstr> Model Truth Table Part I</vt:lpstr>
      <vt:lpstr> Model Truth Table Part II</vt:lpstr>
      <vt:lpstr>Others</vt:lpstr>
      <vt:lpstr>User-Defined Types</vt:lpstr>
      <vt:lpstr>Packages Part I</vt:lpstr>
      <vt:lpstr>User-Defined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Elise Meyers</dc:creator>
  <cp:lastModifiedBy>McGhee, Jordan R [E CPE]</cp:lastModifiedBy>
  <cp:revision>96</cp:revision>
  <cp:lastPrinted>2020-01-16T17:08:34Z</cp:lastPrinted>
  <dcterms:created xsi:type="dcterms:W3CDTF">2018-01-08T02:44:33Z</dcterms:created>
  <dcterms:modified xsi:type="dcterms:W3CDTF">2025-02-11T14:19:30Z</dcterms:modified>
</cp:coreProperties>
</file>